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5" r:id="rId4"/>
    <p:sldId id="280" r:id="rId5"/>
    <p:sldId id="273" r:id="rId6"/>
    <p:sldId id="272" r:id="rId7"/>
    <p:sldId id="274" r:id="rId8"/>
    <p:sldId id="290" r:id="rId9"/>
    <p:sldId id="289" r:id="rId10"/>
    <p:sldId id="291" r:id="rId11"/>
    <p:sldId id="277" r:id="rId12"/>
    <p:sldId id="292" r:id="rId13"/>
    <p:sldId id="293" r:id="rId14"/>
    <p:sldId id="258" r:id="rId15"/>
    <p:sldId id="259" r:id="rId16"/>
    <p:sldId id="260" r:id="rId17"/>
    <p:sldId id="263" r:id="rId18"/>
    <p:sldId id="261" r:id="rId19"/>
    <p:sldId id="265" r:id="rId20"/>
    <p:sldId id="262" r:id="rId21"/>
    <p:sldId id="266" r:id="rId22"/>
    <p:sldId id="267" r:id="rId23"/>
    <p:sldId id="268" r:id="rId24"/>
    <p:sldId id="269" r:id="rId25"/>
    <p:sldId id="270" r:id="rId26"/>
    <p:sldId id="271" r:id="rId27"/>
    <p:sldId id="278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279" r:id="rId36"/>
    <p:sldId id="281" r:id="rId37"/>
    <p:sldId id="282" r:id="rId38"/>
    <p:sldId id="301" r:id="rId39"/>
    <p:sldId id="303" r:id="rId40"/>
    <p:sldId id="302" r:id="rId41"/>
    <p:sldId id="304" r:id="rId42"/>
    <p:sldId id="284" r:id="rId43"/>
    <p:sldId id="285" r:id="rId44"/>
    <p:sldId id="286" r:id="rId45"/>
    <p:sldId id="287" r:id="rId46"/>
    <p:sldId id="288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6E236A-778E-4D01-8361-397DEF421169}" v="1" dt="2025-10-14T08:03:13.988"/>
    <p1510:client id="{E256987D-8E6B-4E4F-BC26-3ED0EF2147C7}" v="9" dt="2025-10-14T07:56:29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D" userId="709374e3-e782-4c1b-aae6-f8c9800b0b62" providerId="ADAL" clId="{663B3AB6-F7E7-4B18-8F8E-CBBBCE420C7D}"/>
    <pc:docChg chg="addSld delSld modSld">
      <pc:chgData name="Mohan D" userId="709374e3-e782-4c1b-aae6-f8c9800b0b62" providerId="ADAL" clId="{663B3AB6-F7E7-4B18-8F8E-CBBBCE420C7D}" dt="2025-10-14T08:03:13.986" v="1"/>
      <pc:docMkLst>
        <pc:docMk/>
      </pc:docMkLst>
      <pc:sldChg chg="add">
        <pc:chgData name="Mohan D" userId="709374e3-e782-4c1b-aae6-f8c9800b0b62" providerId="ADAL" clId="{663B3AB6-F7E7-4B18-8F8E-CBBBCE420C7D}" dt="2025-10-14T08:03:13.986" v="1"/>
        <pc:sldMkLst>
          <pc:docMk/>
          <pc:sldMk cId="293518557" sldId="282"/>
        </pc:sldMkLst>
      </pc:sldChg>
      <pc:sldChg chg="del">
        <pc:chgData name="Mohan D" userId="709374e3-e782-4c1b-aae6-f8c9800b0b62" providerId="ADAL" clId="{663B3AB6-F7E7-4B18-8F8E-CBBBCE420C7D}" dt="2025-10-14T08:03:03.207" v="0" actId="2696"/>
        <pc:sldMkLst>
          <pc:docMk/>
          <pc:sldMk cId="3034793665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33BA8-8D68-CB2E-8E80-A6C4D0B70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36159-93F0-8C20-E605-DDE47E099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B988E-DDF5-83DA-5C02-8153B08AB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50837-5854-8FBD-DE58-6697ADE0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D9EB0-A0F7-C735-F16A-35B0F3A6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4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95E92-BF1A-43A0-8976-ADBFAE06E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541BE-722E-8D37-5816-CD072C756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A26EC-F1DF-2568-F219-CE4F6003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33D50-330C-B883-DB15-FD48BDC45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09198-8C24-7527-2358-6758C4F7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499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6914-C513-7CE0-91D9-9B9C3F794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F1CD-8E49-F63A-DAAC-22F497AD2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70444-F407-9C67-CF6C-66409F90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5A1CA-53D8-C61A-9E7F-55A7DE4E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A31ED-8AB2-A015-6442-FE274A315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68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57D3-91CD-CE58-9FD9-5866A0674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2A3C2-DD45-7135-FC51-AFF92C451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D20CE-6F10-BF13-D5F9-8EB632B0F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764B4-DFE3-E95E-5535-11E22733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41EB4-8B3B-42E7-2B5B-3A549D1D9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2345D-104F-0A9C-F258-52728C578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48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3412-92D4-E88F-BA51-BA38C0E4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1FDB5-91FE-9841-DA6E-96CD4BFAA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D5FBF-4907-271C-2D1B-7A7EB3DD4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CC4CA-561E-23A5-55BB-0A094981F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F697E-6D62-4BD6-9E0D-8CE480362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855FD-6E81-1680-3FC9-4C658847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F66D7-BBEC-E13B-DAE7-D05B450B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CAD38D-65D1-A8F1-21EC-8923F15C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8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EACB1-4B90-A70B-BB84-4464B1F9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36DF8-7F50-95EA-5146-CF1AED550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8B1A2-0CF2-B76F-2E9A-CB66D727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DF1FC-3FC8-1C0E-CB98-20F21EE5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54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A8D76-782A-37AF-40E9-6E9C8B5EF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9D80A-C745-99E7-1A14-2E60676C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9D800-D8B4-B1E1-2B60-540DA97B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41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0B90-FEE8-6711-6C95-63B813A48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40434-2285-1FD5-B649-92CD129B6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EBBE6-7BA5-4CD7-A3AD-176C9007A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0917D-2165-C15C-5833-F261AF170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9B6EE-F21A-6FB4-4521-F902F9074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E5A20-E527-6CFE-E281-A71436E3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71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4F70-1560-23A4-898A-1FB3D4914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95822-BDCD-48DD-61C2-F5DACB075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A0F14-F901-1068-61E2-AD63A1CDD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61672-8008-8113-4CB2-B7F13162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8D883-E7C0-4205-8B32-38ABBFA58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08CC8-078A-2B9B-B304-7D3DA151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61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FAE8-C895-1C5C-12C3-93663B422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55B58-2224-0D5E-3935-E633D2F1F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93B81-AE74-AE35-00AD-90D9A2C5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65758-D0F0-C23B-F73A-0669272A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DD8E1-3538-A56A-47E7-36CCE7AF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493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A06224-419C-6BB4-445B-B142CAA20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47CD0-4147-7017-7D64-B0E677DBE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0B05E-0A89-B9F3-9616-B315FAB54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F544A-3463-CE3C-97CA-835D570E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6A20D-5B85-5AB7-3E0C-DF2BEB02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77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7DB46F-2517-19FB-451F-977F9BB1C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FC447-4CCD-67DF-AC0B-8345779FC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481C7-BE13-16DA-8555-86C4D905DD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A83F0-FBBD-4E78-98BD-4BD573EADF0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857E4-815A-D6CC-2990-AC95D8963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73DAC-3EBD-6453-D3A3-61837661B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714EAE-6278-4E80-9A72-624B85F647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727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ltaww.com/en-us/products/PLC-Programmable-Logic-Controllers/253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t.com/software-download" TargetMode="External"/><Relationship Id="rId2" Type="http://schemas.openxmlformats.org/officeDocument/2006/relationships/hyperlink" Target="https://www.invtcz.cz/data/uploads/images/produkty/hmi-vs/Manual_VSQ_a_VS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D7B8-01B9-7412-30B6-6633630653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IIoT</a:t>
            </a:r>
            <a:r>
              <a:rPr lang="en-IN" dirty="0"/>
              <a:t> &amp; Industrial Automation Development </a:t>
            </a:r>
            <a:r>
              <a:rPr lang="en-IN" dirty="0" err="1"/>
              <a:t>WorkBench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500FF-CA93-329B-C330-4547DE430E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TEKTORK PRIVATE LIMITED</a:t>
            </a:r>
          </a:p>
        </p:txBody>
      </p:sp>
    </p:spTree>
    <p:extLst>
      <p:ext uri="{BB962C8B-B14F-4D97-AF65-F5344CB8AC3E}">
        <p14:creationId xmlns:p14="http://schemas.microsoft.com/office/powerpoint/2010/main" val="2034497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ACDC-7EB3-5519-5D0F-2C0511179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8255"/>
            <a:ext cx="10515600" cy="1325563"/>
          </a:xfrm>
        </p:spPr>
        <p:txBody>
          <a:bodyPr/>
          <a:lstStyle/>
          <a:p>
            <a:r>
              <a:rPr lang="en-US" dirty="0"/>
              <a:t>DVP-SS2 Series Download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518BE9-BEE4-DDFA-8F96-A3DB1C9B3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1100" y="1143000"/>
            <a:ext cx="10029825" cy="50339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2696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9C37-67D9-15AE-4C7F-B4DD61409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117475"/>
            <a:ext cx="11982450" cy="1325563"/>
          </a:xfrm>
        </p:spPr>
        <p:txBody>
          <a:bodyPr>
            <a:normAutofit/>
          </a:bodyPr>
          <a:lstStyle/>
          <a:p>
            <a:r>
              <a:rPr lang="en-US" dirty="0"/>
              <a:t>Software Installation Procedure and Datasheet Download for corresponding PLC’s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75647-A7CD-12CC-B659-3F7371B36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443038"/>
            <a:ext cx="10515600" cy="4667250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hlinkClick r:id="rId2"/>
              </a:rPr>
              <a:t>Products - PLC - Programmable Logic Controllers -</a:t>
            </a:r>
            <a:r>
              <a:rPr lang="en-IN" dirty="0"/>
              <a:t> Delta </a:t>
            </a:r>
          </a:p>
          <a:p>
            <a:pPr marL="0" indent="0" algn="just">
              <a:buNone/>
            </a:pPr>
            <a:r>
              <a:rPr lang="en-IN" dirty="0"/>
              <a:t>   </a:t>
            </a:r>
            <a:r>
              <a:rPr lang="en-US" dirty="0"/>
              <a:t>Once the link opens, select the Quick Download option.</a:t>
            </a:r>
            <a:endParaRPr lang="en-IN" dirty="0">
              <a:hlinkClick r:id="rId2"/>
            </a:endParaRPr>
          </a:p>
          <a:p>
            <a:pPr marL="0" indent="0" algn="just">
              <a:buNone/>
            </a:pPr>
            <a:r>
              <a:rPr lang="en-US" dirty="0"/>
              <a:t>    There is an option called </a:t>
            </a:r>
            <a:r>
              <a:rPr lang="en-US" dirty="0" err="1"/>
              <a:t>ISPSoft</a:t>
            </a:r>
            <a:r>
              <a:rPr lang="en-US" dirty="0"/>
              <a:t> and </a:t>
            </a:r>
            <a:r>
              <a:rPr lang="en-US" dirty="0" err="1"/>
              <a:t>WPLSoft</a:t>
            </a:r>
            <a:r>
              <a:rPr lang="en-US" dirty="0"/>
              <a:t>.</a:t>
            </a:r>
            <a:endParaRPr lang="en-IN" dirty="0">
              <a:hlinkClick r:id="rId2"/>
            </a:endParaRPr>
          </a:p>
          <a:p>
            <a:pPr algn="just"/>
            <a:r>
              <a:rPr lang="en-IN" dirty="0" err="1">
                <a:hlinkClick r:id="rId2"/>
              </a:rPr>
              <a:t>ISPSoft</a:t>
            </a:r>
            <a:r>
              <a:rPr lang="en-IN" dirty="0">
                <a:hlinkClick r:id="rId2"/>
              </a:rPr>
              <a:t> V3.22.01</a:t>
            </a:r>
          </a:p>
          <a:p>
            <a:pPr algn="just"/>
            <a:r>
              <a:rPr lang="en-IN" dirty="0" err="1"/>
              <a:t>WPLSoft</a:t>
            </a:r>
            <a:r>
              <a:rPr lang="en-IN" dirty="0"/>
              <a:t> V2.53</a:t>
            </a:r>
          </a:p>
          <a:p>
            <a:pPr marL="0" indent="0" algn="just">
              <a:buNone/>
            </a:pPr>
            <a:r>
              <a:rPr lang="en-US" dirty="0"/>
              <a:t>But currently, we are using </a:t>
            </a:r>
            <a:r>
              <a:rPr lang="en-US" dirty="0" err="1"/>
              <a:t>ISPSoft</a:t>
            </a:r>
            <a:r>
              <a:rPr lang="en-US" dirty="0"/>
              <a:t> because it is compatible with all kinds of PLCs</a:t>
            </a:r>
          </a:p>
          <a:p>
            <a:pPr marL="0" indent="0" algn="just">
              <a:buNone/>
            </a:pPr>
            <a:r>
              <a:rPr lang="en-US" dirty="0" err="1"/>
              <a:t>DIAStudio</a:t>
            </a:r>
            <a:r>
              <a:rPr lang="en-US" dirty="0"/>
              <a:t> V1.0 Register &amp; Download Manual</a:t>
            </a:r>
          </a:p>
          <a:p>
            <a:pPr marL="0" indent="0">
              <a:buNone/>
            </a:pPr>
            <a:endParaRPr lang="en-IN" dirty="0">
              <a:hlinkClick r:id="rId2"/>
            </a:endParaRPr>
          </a:p>
          <a:p>
            <a:pPr marL="0" indent="0">
              <a:buNone/>
            </a:pPr>
            <a:endParaRPr lang="en-IN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24565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55CB1-E2C0-B1FB-42F0-C94DC808B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107950"/>
            <a:ext cx="11811000" cy="1325563"/>
          </a:xfrm>
        </p:spPr>
        <p:txBody>
          <a:bodyPr/>
          <a:lstStyle/>
          <a:p>
            <a:r>
              <a:rPr lang="en-US" dirty="0"/>
              <a:t>HMI (Human-Machine Interface) Manual and Software Tool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9C0F7-7A15-1C68-942E-6EC1C6927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VS,VS-Q installation manual-1.pdf</a:t>
            </a:r>
            <a:endParaRPr lang="en-IN" dirty="0"/>
          </a:p>
          <a:p>
            <a:r>
              <a:rPr lang="en-US" dirty="0">
                <a:hlinkClick r:id="rId3"/>
              </a:rPr>
              <a:t>Software Download - INVT Electric Global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9485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9AA76-2F5F-BD49-0775-C2EFDDD2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8" y="-104775"/>
            <a:ext cx="11972924" cy="1325563"/>
          </a:xfrm>
        </p:spPr>
        <p:txBody>
          <a:bodyPr/>
          <a:lstStyle/>
          <a:p>
            <a:r>
              <a:rPr lang="en-US" dirty="0"/>
              <a:t>8 Digital Inputs (X0-X7) and 6 Digital Outputs (Y0-Y5) </a:t>
            </a:r>
            <a:endParaRPr lang="en-IN" dirty="0"/>
          </a:p>
        </p:txBody>
      </p:sp>
      <p:pic>
        <p:nvPicPr>
          <p:cNvPr id="5" name="Content Placeholder 4" descr="A white and blue workbench">
            <a:extLst>
              <a:ext uri="{FF2B5EF4-FFF2-40B4-BE49-F238E27FC236}">
                <a16:creationId xmlns:a16="http://schemas.microsoft.com/office/drawing/2014/main" id="{47AA5DB9-6313-839B-FBB9-11A757930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1325564"/>
            <a:ext cx="10039350" cy="5167312"/>
          </a:xfrm>
        </p:spPr>
      </p:pic>
    </p:spTree>
    <p:extLst>
      <p:ext uri="{BB962C8B-B14F-4D97-AF65-F5344CB8AC3E}">
        <p14:creationId xmlns:p14="http://schemas.microsoft.com/office/powerpoint/2010/main" val="2845690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37CA-2A31-D9D9-5AC5-F59C1A5F5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04775"/>
            <a:ext cx="11811000" cy="914399"/>
          </a:xfrm>
        </p:spPr>
        <p:txBody>
          <a:bodyPr/>
          <a:lstStyle/>
          <a:p>
            <a:r>
              <a:rPr lang="en-IN" dirty="0" err="1"/>
              <a:t>IIoT</a:t>
            </a:r>
            <a:r>
              <a:rPr lang="en-IN" dirty="0"/>
              <a:t> &amp; Industrial Automation Development 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767C29-97CC-E150-2445-12EFAC436F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851" y="1019174"/>
            <a:ext cx="10287000" cy="54578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591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3F112-FCAB-2E91-14E5-4F6275F76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4" y="133351"/>
            <a:ext cx="11801475" cy="1519238"/>
          </a:xfrm>
        </p:spPr>
        <p:txBody>
          <a:bodyPr>
            <a:normAutofit fontScale="90000"/>
          </a:bodyPr>
          <a:lstStyle/>
          <a:p>
            <a:r>
              <a:rPr lang="en-US" dirty="0"/>
              <a:t>Three Cables: Power Supply and Two System Interface USB Cables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EF22D-C874-7176-2E30-A05712DDA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75" y="1530350"/>
            <a:ext cx="10515600" cy="4351338"/>
          </a:xfrm>
        </p:spPr>
        <p:txBody>
          <a:bodyPr/>
          <a:lstStyle/>
          <a:p>
            <a:r>
              <a:rPr lang="en-US" dirty="0"/>
              <a:t>There are three cables: </a:t>
            </a:r>
          </a:p>
          <a:p>
            <a:pPr lvl="1" algn="just">
              <a:lnSpc>
                <a:spcPct val="200000"/>
              </a:lnSpc>
            </a:pPr>
            <a:r>
              <a:rPr lang="en-US" dirty="0"/>
              <a:t>One is the power supply cable for 230 V, </a:t>
            </a:r>
          </a:p>
          <a:p>
            <a:pPr lvl="1" algn="just">
              <a:lnSpc>
                <a:spcPct val="200000"/>
              </a:lnSpc>
            </a:pPr>
            <a:r>
              <a:rPr lang="en-US" dirty="0"/>
              <a:t>Another is the PLC programming cable, which is connected to the PLC on one end and to the system via a USB connector on the other end,</a:t>
            </a:r>
          </a:p>
          <a:p>
            <a:pPr lvl="1" algn="just">
              <a:lnSpc>
                <a:spcPct val="200000"/>
              </a:lnSpc>
            </a:pPr>
            <a:r>
              <a:rPr lang="en-US" dirty="0"/>
              <a:t>The third is the built-in HMI interface cable, which also connects to the system through a USB port.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089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D078-CA3F-BFDF-BC86-E5D02325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Supply Cable </a:t>
            </a:r>
            <a:endParaRPr lang="en-IN" dirty="0"/>
          </a:p>
        </p:txBody>
      </p:sp>
      <p:pic>
        <p:nvPicPr>
          <p:cNvPr id="5" name="Content Placeholder 4" descr="A black cord with a plug">
            <a:extLst>
              <a:ext uri="{FF2B5EF4-FFF2-40B4-BE49-F238E27FC236}">
                <a16:creationId xmlns:a16="http://schemas.microsoft.com/office/drawing/2014/main" id="{BE4EB066-0CC4-C6F0-651B-9923FB331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04925"/>
            <a:ext cx="5829300" cy="4737101"/>
          </a:xfrm>
        </p:spPr>
      </p:pic>
      <p:pic>
        <p:nvPicPr>
          <p:cNvPr id="7" name="Picture 6" descr="A black power outlet with red light&#10;&#10;AI-generated content may be incorrect.">
            <a:extLst>
              <a:ext uri="{FF2B5EF4-FFF2-40B4-BE49-F238E27FC236}">
                <a16:creationId xmlns:a16="http://schemas.microsoft.com/office/drawing/2014/main" id="{0534B1A9-6D25-9F0B-CB8B-70850C6B1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1304925"/>
            <a:ext cx="4810125" cy="473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97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C28A-4699-8AC4-B0E1-3F9943EA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PLC Programming Cable</a:t>
            </a:r>
            <a:endParaRPr lang="en-IN" dirty="0"/>
          </a:p>
        </p:txBody>
      </p:sp>
      <p:pic>
        <p:nvPicPr>
          <p:cNvPr id="9" name="Content Placeholder 8" descr="A black cable with a plug&#10;&#10;AI-generated content may be incorrect.">
            <a:extLst>
              <a:ext uri="{FF2B5EF4-FFF2-40B4-BE49-F238E27FC236}">
                <a16:creationId xmlns:a16="http://schemas.microsoft.com/office/drawing/2014/main" id="{1DB3DA7A-FA9A-AD9C-ED73-E481ECBFE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14" y="1478491"/>
            <a:ext cx="3924303" cy="4634441"/>
          </a:xfrm>
        </p:spPr>
      </p:pic>
      <p:pic>
        <p:nvPicPr>
          <p:cNvPr id="11" name="Picture 10" descr="A close up of a cable">
            <a:extLst>
              <a:ext uri="{FF2B5EF4-FFF2-40B4-BE49-F238E27FC236}">
                <a16:creationId xmlns:a16="http://schemas.microsoft.com/office/drawing/2014/main" id="{807224DE-FCE8-4C42-5CBC-0CE9C5207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131" y="1478491"/>
            <a:ext cx="3386669" cy="4634441"/>
          </a:xfrm>
          <a:prstGeom prst="rect">
            <a:avLst/>
          </a:prstGeom>
        </p:spPr>
      </p:pic>
      <p:pic>
        <p:nvPicPr>
          <p:cNvPr id="13" name="Picture 12" descr="A close-up of a cable&#10;&#10;AI-generated content may be incorrect.">
            <a:extLst>
              <a:ext uri="{FF2B5EF4-FFF2-40B4-BE49-F238E27FC236}">
                <a16:creationId xmlns:a16="http://schemas.microsoft.com/office/drawing/2014/main" id="{D630CB74-5F4C-6EA4-59D4-081A951684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384109" y="1478488"/>
            <a:ext cx="3386667" cy="463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64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F242-E47E-B032-95E1-C6390D94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Inbuild HMI Cable for HMI Programming </a:t>
            </a:r>
            <a:endParaRPr lang="en-IN" dirty="0"/>
          </a:p>
        </p:txBody>
      </p:sp>
      <p:pic>
        <p:nvPicPr>
          <p:cNvPr id="5" name="Content Placeholder 4" descr="A black wire on a silver surface">
            <a:extLst>
              <a:ext uri="{FF2B5EF4-FFF2-40B4-BE49-F238E27FC236}">
                <a16:creationId xmlns:a16="http://schemas.microsoft.com/office/drawing/2014/main" id="{EB2009C2-D9DB-7124-3427-CF6B35693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5" y="1247775"/>
            <a:ext cx="11020425" cy="4929188"/>
          </a:xfrm>
        </p:spPr>
      </p:pic>
    </p:spTree>
    <p:extLst>
      <p:ext uri="{BB962C8B-B14F-4D97-AF65-F5344CB8AC3E}">
        <p14:creationId xmlns:p14="http://schemas.microsoft.com/office/powerpoint/2010/main" val="1653887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C3A7-14F7-138F-8B8B-CBE065188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74625"/>
            <a:ext cx="10515600" cy="1325563"/>
          </a:xfrm>
        </p:spPr>
        <p:txBody>
          <a:bodyPr/>
          <a:lstStyle/>
          <a:p>
            <a:r>
              <a:rPr lang="en-US" dirty="0"/>
              <a:t>Bottom side of the PLC there is two wire, and three wire connections are there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59C2B-40C8-64A5-F418-303E3345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dirty="0"/>
              <a:t>Two wire connection are called it is as Modbus data communications RS-485 (+ and -)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Power supply connections are called it is Positive Voltage and negative Voltage and Ground connections.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440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F3B2-661E-EF13-310C-0A8844529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53" y="365125"/>
            <a:ext cx="10980247" cy="1325563"/>
          </a:xfrm>
        </p:spPr>
        <p:txBody>
          <a:bodyPr/>
          <a:lstStyle/>
          <a:p>
            <a:r>
              <a:rPr lang="en-US" dirty="0"/>
              <a:t>Modbus communication using a two-wire interface</a:t>
            </a:r>
            <a:endParaRPr lang="en-IN" dirty="0"/>
          </a:p>
        </p:txBody>
      </p:sp>
      <p:pic>
        <p:nvPicPr>
          <p:cNvPr id="5" name="Content Placeholder 4" descr="A green connector on a grey device">
            <a:extLst>
              <a:ext uri="{FF2B5EF4-FFF2-40B4-BE49-F238E27FC236}">
                <a16:creationId xmlns:a16="http://schemas.microsoft.com/office/drawing/2014/main" id="{CF699B7B-CBBA-53D9-FBF5-1A60A4AA4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75" y="1962150"/>
            <a:ext cx="3524250" cy="4276723"/>
          </a:xfrm>
        </p:spPr>
      </p:pic>
      <p:pic>
        <p:nvPicPr>
          <p:cNvPr id="7" name="Picture 6" descr="A close up of a device&#10;&#10;AI-generated content may be incorrect.">
            <a:extLst>
              <a:ext uri="{FF2B5EF4-FFF2-40B4-BE49-F238E27FC236}">
                <a16:creationId xmlns:a16="http://schemas.microsoft.com/office/drawing/2014/main" id="{019E8B30-6903-4321-17C9-C6E91F889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53" y="1962151"/>
            <a:ext cx="4912822" cy="4276724"/>
          </a:xfrm>
          <a:prstGeom prst="rect">
            <a:avLst/>
          </a:prstGeom>
        </p:spPr>
      </p:pic>
      <p:pic>
        <p:nvPicPr>
          <p:cNvPr id="9" name="Picture 8" descr="A green and black electrical plug&#10;&#10;AI-generated content may be incorrect.">
            <a:extLst>
              <a:ext uri="{FF2B5EF4-FFF2-40B4-BE49-F238E27FC236}">
                <a16:creationId xmlns:a16="http://schemas.microsoft.com/office/drawing/2014/main" id="{C4C7F5DE-FA41-557E-FD17-4C85CD5BB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625" y="1962150"/>
            <a:ext cx="2624137" cy="427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09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E7CB-18AA-5D74-9EE2-CCFF26E1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51"/>
            <a:ext cx="10515600" cy="1557338"/>
          </a:xfrm>
        </p:spPr>
        <p:txBody>
          <a:bodyPr>
            <a:normAutofit fontScale="90000"/>
          </a:bodyPr>
          <a:lstStyle/>
          <a:p>
            <a:r>
              <a:rPr lang="en-US" dirty="0"/>
              <a:t>Power source for the PLC system provides 24V with positive and negative terminals, as well as a ground (GND) terminal</a:t>
            </a:r>
            <a:endParaRPr lang="en-IN" dirty="0"/>
          </a:p>
        </p:txBody>
      </p:sp>
      <p:pic>
        <p:nvPicPr>
          <p:cNvPr id="5" name="Content Placeholder 4" descr="A close up of a plug&#10;&#10;AI-generated content may be incorrect.">
            <a:extLst>
              <a:ext uri="{FF2B5EF4-FFF2-40B4-BE49-F238E27FC236}">
                <a16:creationId xmlns:a16="http://schemas.microsoft.com/office/drawing/2014/main" id="{ECB6B58D-38B8-77C7-B228-30E9A09EF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950" y="1690689"/>
            <a:ext cx="4038600" cy="4486274"/>
          </a:xfrm>
        </p:spPr>
      </p:pic>
      <p:pic>
        <p:nvPicPr>
          <p:cNvPr id="7" name="Picture 6" descr="A close up of a device&#10;&#10;AI-generated content may be incorrect.">
            <a:extLst>
              <a:ext uri="{FF2B5EF4-FFF2-40B4-BE49-F238E27FC236}">
                <a16:creationId xmlns:a16="http://schemas.microsoft.com/office/drawing/2014/main" id="{CBD4EDD1-572C-68C3-D7CF-918A77EC8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89" y="1690689"/>
            <a:ext cx="4418561" cy="4486274"/>
          </a:xfrm>
          <a:prstGeom prst="rect">
            <a:avLst/>
          </a:prstGeom>
        </p:spPr>
      </p:pic>
      <p:pic>
        <p:nvPicPr>
          <p:cNvPr id="9" name="Picture 8" descr="A close-up of a plug">
            <a:extLst>
              <a:ext uri="{FF2B5EF4-FFF2-40B4-BE49-F238E27FC236}">
                <a16:creationId xmlns:a16="http://schemas.microsoft.com/office/drawing/2014/main" id="{1DBCEBC9-7DA7-582C-ED6B-C3D885FD39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550" y="1690689"/>
            <a:ext cx="2381250" cy="448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154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D90D-E744-6E2A-1CC4-6BACA4E7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Create a New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802E81-04B5-0333-56EE-C8EB325A8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3" y="1566334"/>
            <a:ext cx="10905067" cy="4504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833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7978-588F-6321-83CB-EBCCE236F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174626"/>
            <a:ext cx="10515600" cy="744008"/>
          </a:xfrm>
        </p:spPr>
        <p:txBody>
          <a:bodyPr/>
          <a:lstStyle/>
          <a:p>
            <a:r>
              <a:rPr lang="en-IN" dirty="0"/>
              <a:t>Once after the Create a new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F4EB86-2174-B90D-31BF-E15AE59228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202267"/>
            <a:ext cx="10515599" cy="49746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3300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CB30B-9DA7-E655-D349-E9CF4FA7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49" y="136525"/>
            <a:ext cx="10811933" cy="1489075"/>
          </a:xfrm>
        </p:spPr>
        <p:txBody>
          <a:bodyPr>
            <a:normAutofit fontScale="90000"/>
          </a:bodyPr>
          <a:lstStyle/>
          <a:p>
            <a:r>
              <a:rPr lang="en-US" dirty="0"/>
              <a:t>Before starting the new project, we ensure that the </a:t>
            </a:r>
            <a:r>
              <a:rPr lang="en-US" dirty="0" err="1"/>
              <a:t>Commgr</a:t>
            </a:r>
            <a:r>
              <a:rPr lang="en-US" dirty="0"/>
              <a:t> functionality is working properly. </a:t>
            </a:r>
            <a:br>
              <a:rPr lang="en-US" dirty="0"/>
            </a:br>
            <a:r>
              <a:rPr lang="en-US" dirty="0" err="1"/>
              <a:t>Commgr</a:t>
            </a:r>
            <a:r>
              <a:rPr lang="en-US" dirty="0"/>
              <a:t> stands for Communication Manager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1E1802-D2DD-78E8-FB7E-5B0116D9AD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4562" y="2125407"/>
            <a:ext cx="7201905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02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AB16-B18F-8C37-9974-AFD63C981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4" y="107950"/>
            <a:ext cx="11858625" cy="1325563"/>
          </a:xfrm>
        </p:spPr>
        <p:txBody>
          <a:bodyPr/>
          <a:lstStyle/>
          <a:p>
            <a:r>
              <a:rPr lang="en-US" dirty="0"/>
              <a:t>In the </a:t>
            </a:r>
            <a:r>
              <a:rPr lang="en-US" dirty="0" err="1"/>
              <a:t>Commgr</a:t>
            </a:r>
            <a:r>
              <a:rPr lang="en-US" dirty="0"/>
              <a:t> selection process, select the shortcut icon as shown below.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E4DC19-3040-B79B-6E6B-20CE247E7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591733"/>
            <a:ext cx="10058400" cy="456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986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AA59-E798-2E71-3EE8-DCBD3650F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0"/>
            <a:ext cx="1179195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Selection of specific parameters, such as panel communication, is done through the serial configuration.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F0D789-C948-F995-75DA-94B87F933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468" y="1825625"/>
            <a:ext cx="9220200" cy="458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07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064F8-2CC2-E4B7-F79F-A0CEB8585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8275"/>
            <a:ext cx="10515600" cy="1325563"/>
          </a:xfrm>
        </p:spPr>
        <p:txBody>
          <a:bodyPr/>
          <a:lstStyle/>
          <a:p>
            <a:r>
              <a:rPr lang="en-IN" dirty="0"/>
              <a:t>State is OK(START)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94721A-B722-7FC2-C0BA-E2A57F80A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683" y="1506014"/>
            <a:ext cx="10253133" cy="430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211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F9FE6-9D6D-B376-CAFF-3EA0DB0A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6863"/>
            <a:ext cx="10515600" cy="1325563"/>
          </a:xfrm>
        </p:spPr>
        <p:txBody>
          <a:bodyPr/>
          <a:lstStyle/>
          <a:p>
            <a:r>
              <a:rPr lang="en-US" dirty="0"/>
              <a:t>Select ‘New’ in the program.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682429-B34C-F856-2547-6FDC99692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3733" y="1085850"/>
            <a:ext cx="10193867" cy="50911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3239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F2A90-31B6-703B-7CFD-087E2EAD1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" y="0"/>
            <a:ext cx="10515600" cy="1099608"/>
          </a:xfrm>
        </p:spPr>
        <p:txBody>
          <a:bodyPr/>
          <a:lstStyle/>
          <a:p>
            <a:r>
              <a:rPr lang="en-IN" dirty="0"/>
              <a:t>Assigning X0 as Digital Input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983B60-A526-C46C-9538-6BC8F3C0A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099609"/>
            <a:ext cx="10354733" cy="50773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044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9AB63-186A-C5F1-4D72-37277A4FA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658101-EF9F-65C2-3604-C9A4A6E1E2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467" y="1690688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821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5BFD6-676E-D181-3CE1-E96913A1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Double-click the highlighted arrow mark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68145-B1D1-058D-8A0D-DFDE5E1C1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8621" y="1825625"/>
            <a:ext cx="97347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32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9500-BCD6-FD13-DCA5-BD898DB4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025"/>
            <a:ext cx="10515600" cy="1325563"/>
          </a:xfrm>
        </p:spPr>
        <p:txBody>
          <a:bodyPr/>
          <a:lstStyle/>
          <a:p>
            <a:r>
              <a:rPr lang="en-US" dirty="0"/>
              <a:t>Memory Coil M0 Parallel to X0.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5F766F-A0BC-9D84-278A-6F79D358B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252538"/>
            <a:ext cx="10329333" cy="489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35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C6771-BC65-C415-DD2E-FD2939B26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5" y="18255"/>
            <a:ext cx="10515600" cy="1325563"/>
          </a:xfrm>
        </p:spPr>
        <p:txBody>
          <a:bodyPr/>
          <a:lstStyle/>
          <a:p>
            <a:r>
              <a:rPr lang="en-IN" dirty="0"/>
              <a:t>Assigning Y0 as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D480CF-2B3F-174F-2232-019454A1D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1" y="1343818"/>
            <a:ext cx="9439274" cy="483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1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5B46-2583-8C39-A968-3E5A8A128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98425"/>
            <a:ext cx="11972925" cy="1325563"/>
          </a:xfrm>
        </p:spPr>
        <p:txBody>
          <a:bodyPr/>
          <a:lstStyle/>
          <a:p>
            <a:r>
              <a:rPr lang="en-US" dirty="0"/>
              <a:t>Simple: X0 as Input and Y0 as the corresponding Output.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B62BF5-A3E2-E720-A361-89387B4B7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5375" y="1423988"/>
            <a:ext cx="9791699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11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3FAFE-C6D4-BF90-FFF4-8696F330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69850"/>
            <a:ext cx="12058650" cy="1101725"/>
          </a:xfrm>
        </p:spPr>
        <p:txBody>
          <a:bodyPr>
            <a:normAutofit/>
          </a:bodyPr>
          <a:lstStyle/>
          <a:p>
            <a:r>
              <a:rPr lang="en-US" sz="4000" dirty="0"/>
              <a:t>The same procedure is followed for X0–X5 and Y0–Y5.</a:t>
            </a:r>
            <a:endParaRPr lang="en-IN" sz="4000" dirty="0"/>
          </a:p>
        </p:txBody>
      </p:sp>
      <p:pic>
        <p:nvPicPr>
          <p:cNvPr id="5" name="Content Placeholder 4" descr="A computer screen with a white screen">
            <a:extLst>
              <a:ext uri="{FF2B5EF4-FFF2-40B4-BE49-F238E27FC236}">
                <a16:creationId xmlns:a16="http://schemas.microsoft.com/office/drawing/2014/main" id="{98F3EE64-9AC6-5A38-4E68-5D823C03C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95375"/>
            <a:ext cx="10429875" cy="5229225"/>
          </a:xfrm>
        </p:spPr>
      </p:pic>
    </p:spTree>
    <p:extLst>
      <p:ext uri="{BB962C8B-B14F-4D97-AF65-F5344CB8AC3E}">
        <p14:creationId xmlns:p14="http://schemas.microsoft.com/office/powerpoint/2010/main" val="1179279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49499-1B5C-15A5-813D-01452302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the online mode option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12E903-6756-B6CB-09B7-AF54EFAB15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825625"/>
            <a:ext cx="104013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3348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BD81-608B-FA42-10D9-6B58E839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Select the option 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134C7C-35EB-D685-5692-EE84FAF26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599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532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037E-CB09-B523-7B11-A2163664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Ready for program transfer to the PLC.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9AA03D-ACD4-DE7E-0A6D-04048258F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475" y="1825625"/>
            <a:ext cx="106013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8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F56BA-B10D-1DA5-DB0A-56DD4730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Select a Option OK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82A4FF-B63D-37D1-6ED2-BAD49181A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326" y="1825625"/>
            <a:ext cx="106584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26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4B6D2-AE1A-55F0-087B-0C332276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Select a option OK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30C42F-CC30-4D36-E36C-6E21C6116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7750" y="1825625"/>
            <a:ext cx="103822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722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8EE5-5D73-D44F-DA9D-DEBC71FF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Ensure the PLC is in either STOP or RUN mode before proceeding.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11FF87-17BC-97A2-9549-AC9C7A8DA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975" y="1825625"/>
            <a:ext cx="101726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373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A1A89-C2AF-6027-4249-E7206495E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“If the system is stopped, toggle the PLC buttons in this order: RUN → STOP → RUN.</a:t>
            </a:r>
            <a:endParaRPr lang="en-IN" dirty="0"/>
          </a:p>
        </p:txBody>
      </p:sp>
      <p:pic>
        <p:nvPicPr>
          <p:cNvPr id="5" name="Content Placeholder 4" descr="A close up of a device">
            <a:extLst>
              <a:ext uri="{FF2B5EF4-FFF2-40B4-BE49-F238E27FC236}">
                <a16:creationId xmlns:a16="http://schemas.microsoft.com/office/drawing/2014/main" id="{C18E9452-5CB4-C4E2-A261-24C7E08B9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75" y="1863725"/>
            <a:ext cx="6219825" cy="4351338"/>
          </a:xfrm>
        </p:spPr>
      </p:pic>
      <p:pic>
        <p:nvPicPr>
          <p:cNvPr id="7" name="Picture 6" descr="A button on a device&#10;&#10;AI-generated content may be incorrect.">
            <a:extLst>
              <a:ext uri="{FF2B5EF4-FFF2-40B4-BE49-F238E27FC236}">
                <a16:creationId xmlns:a16="http://schemas.microsoft.com/office/drawing/2014/main" id="{6EB6F253-955A-E732-8650-EBFFFF246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3012" y="1863725"/>
            <a:ext cx="1000125" cy="4270375"/>
          </a:xfrm>
          <a:prstGeom prst="rect">
            <a:avLst/>
          </a:prstGeom>
        </p:spPr>
      </p:pic>
      <p:pic>
        <p:nvPicPr>
          <p:cNvPr id="9" name="Picture 8" descr="A stop button on a white surface&#10;&#10;AI-generated content may be incorrect.">
            <a:extLst>
              <a:ext uri="{FF2B5EF4-FFF2-40B4-BE49-F238E27FC236}">
                <a16:creationId xmlns:a16="http://schemas.microsoft.com/office/drawing/2014/main" id="{E8A0AB44-976D-22AE-222C-24A53EA6F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990" y="1933575"/>
            <a:ext cx="110371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240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6572-E198-5F84-E88C-B0A919A2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562"/>
            <a:ext cx="10515600" cy="1325563"/>
          </a:xfrm>
        </p:spPr>
        <p:txBody>
          <a:bodyPr/>
          <a:lstStyle/>
          <a:p>
            <a:r>
              <a:rPr lang="en-US" dirty="0"/>
              <a:t>Digital Inputs and Outputs</a:t>
            </a:r>
            <a:endParaRPr lang="en-IN" dirty="0"/>
          </a:p>
        </p:txBody>
      </p:sp>
      <p:pic>
        <p:nvPicPr>
          <p:cNvPr id="5" name="Content Placeholder 4" descr="A machine with buttons and a computer&#10;&#10;AI-generated content may be incorrect.">
            <a:extLst>
              <a:ext uri="{FF2B5EF4-FFF2-40B4-BE49-F238E27FC236}">
                <a16:creationId xmlns:a16="http://schemas.microsoft.com/office/drawing/2014/main" id="{90697414-056A-EC3A-D048-8A3E93BC2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43001"/>
            <a:ext cx="10515600" cy="534352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94510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1A6B-7A3A-460F-394E-F74946766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Digital Output Measurement using Multimeter</a:t>
            </a:r>
            <a:endParaRPr lang="en-IN" dirty="0"/>
          </a:p>
        </p:txBody>
      </p:sp>
      <p:pic>
        <p:nvPicPr>
          <p:cNvPr id="5" name="Content Placeholder 4" descr="A close-up of a machine&#10;&#10;AI-generated content may be incorrect.">
            <a:extLst>
              <a:ext uri="{FF2B5EF4-FFF2-40B4-BE49-F238E27FC236}">
                <a16:creationId xmlns:a16="http://schemas.microsoft.com/office/drawing/2014/main" id="{2166102F-9A77-72CC-41FC-67DEBDEDAE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463136" y="-1470819"/>
            <a:ext cx="4922837" cy="10515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918072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D62E-71A5-1308-5830-4C57EBE2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49" y="66675"/>
            <a:ext cx="11839575" cy="1604963"/>
          </a:xfrm>
        </p:spPr>
        <p:txBody>
          <a:bodyPr>
            <a:normAutofit fontScale="90000"/>
          </a:bodyPr>
          <a:lstStyle/>
          <a:p>
            <a:pPr algn="just"/>
            <a:br>
              <a:rPr lang="en-US" dirty="0"/>
            </a:br>
            <a:r>
              <a:rPr lang="en-US" dirty="0"/>
              <a:t>Whenever the digital input is ON and the digital output is ON, we can measure a corresponding </a:t>
            </a:r>
            <a:br>
              <a:rPr lang="en-US" dirty="0"/>
            </a:br>
            <a:r>
              <a:rPr lang="en-US" dirty="0"/>
              <a:t>24 V output Respectively Input and Output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454C05-B5BF-99D2-8DF7-EAF0E85A9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199" y="1671638"/>
            <a:ext cx="5681133" cy="42042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AFE939-3AE7-0F9D-207E-5FCB22C4E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882" y="1671638"/>
            <a:ext cx="5848351" cy="420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8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F010-4317-B981-9DAF-835206EF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HMI TOOL for Programming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99EE0C-36CE-C2E1-9A8E-19C5C21BC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825625"/>
            <a:ext cx="10582274" cy="4351338"/>
          </a:xfrm>
        </p:spPr>
      </p:pic>
    </p:spTree>
    <p:extLst>
      <p:ext uri="{BB962C8B-B14F-4D97-AF65-F5344CB8AC3E}">
        <p14:creationId xmlns:p14="http://schemas.microsoft.com/office/powerpoint/2010/main" val="42861040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4128-40BA-A936-D154-D0EB43D1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Select a Option OK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58142C6F-723D-819F-F67B-7C7621106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825625"/>
            <a:ext cx="10629899" cy="4351338"/>
          </a:xfrm>
        </p:spPr>
      </p:pic>
    </p:spTree>
    <p:extLst>
      <p:ext uri="{BB962C8B-B14F-4D97-AF65-F5344CB8AC3E}">
        <p14:creationId xmlns:p14="http://schemas.microsoft.com/office/powerpoint/2010/main" val="847132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8E2F8-3D58-AF5F-235A-FFF9D9BFD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Select Option for Download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38E3E398-AE95-D262-8B08-E5E2C71E8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1758950"/>
            <a:ext cx="10287000" cy="4351338"/>
          </a:xfrm>
        </p:spPr>
      </p:pic>
    </p:spTree>
    <p:extLst>
      <p:ext uri="{BB962C8B-B14F-4D97-AF65-F5344CB8AC3E}">
        <p14:creationId xmlns:p14="http://schemas.microsoft.com/office/powerpoint/2010/main" val="42023437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A429A-3FAC-2675-E68C-1AAB2AC1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programming the HMI screen</a:t>
            </a:r>
            <a:endParaRPr lang="en-IN" dirty="0"/>
          </a:p>
        </p:txBody>
      </p:sp>
      <p:pic>
        <p:nvPicPr>
          <p:cNvPr id="5" name="Content Placeholder 4" descr="A computer screen with a screen error">
            <a:extLst>
              <a:ext uri="{FF2B5EF4-FFF2-40B4-BE49-F238E27FC236}">
                <a16:creationId xmlns:a16="http://schemas.microsoft.com/office/drawing/2014/main" id="{E85B5682-DF04-B015-54A3-394056B64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4691062"/>
          </a:xfrm>
        </p:spPr>
      </p:pic>
    </p:spTree>
    <p:extLst>
      <p:ext uri="{BB962C8B-B14F-4D97-AF65-F5344CB8AC3E}">
        <p14:creationId xmlns:p14="http://schemas.microsoft.com/office/powerpoint/2010/main" val="17212411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1921-500F-7FC1-0C2D-E9C7FFAC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using HMI control, the corresponding output glows.</a:t>
            </a:r>
            <a:endParaRPr lang="en-IN" dirty="0"/>
          </a:p>
        </p:txBody>
      </p:sp>
      <p:pic>
        <p:nvPicPr>
          <p:cNvPr id="5" name="Content Placeholder 4" descr="A close-up of a machine">
            <a:extLst>
              <a:ext uri="{FF2B5EF4-FFF2-40B4-BE49-F238E27FC236}">
                <a16:creationId xmlns:a16="http://schemas.microsoft.com/office/drawing/2014/main" id="{2ADABCE9-A874-6268-598D-EFB29491B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590675"/>
            <a:ext cx="10877550" cy="4586288"/>
          </a:xfrm>
        </p:spPr>
      </p:pic>
    </p:spTree>
    <p:extLst>
      <p:ext uri="{BB962C8B-B14F-4D97-AF65-F5344CB8AC3E}">
        <p14:creationId xmlns:p14="http://schemas.microsoft.com/office/powerpoint/2010/main" val="5661729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6491-824F-8EF0-FD02-6C90B3E7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104775"/>
            <a:ext cx="10515600" cy="1325563"/>
          </a:xfrm>
        </p:spPr>
        <p:txBody>
          <a:bodyPr/>
          <a:lstStyle/>
          <a:p>
            <a:r>
              <a:rPr lang="en-US" dirty="0"/>
              <a:t>While using HMI control, the corresponding output glows.</a:t>
            </a:r>
            <a:endParaRPr lang="en-IN" dirty="0"/>
          </a:p>
        </p:txBody>
      </p:sp>
      <p:pic>
        <p:nvPicPr>
          <p:cNvPr id="5" name="Content Placeholder 4" descr="A close-up of a machine">
            <a:extLst>
              <a:ext uri="{FF2B5EF4-FFF2-40B4-BE49-F238E27FC236}">
                <a16:creationId xmlns:a16="http://schemas.microsoft.com/office/drawing/2014/main" id="{65E29E21-E15E-989B-E242-72CD934CC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25" y="1514475"/>
            <a:ext cx="10801350" cy="4857750"/>
          </a:xfrm>
        </p:spPr>
      </p:pic>
    </p:spTree>
    <p:extLst>
      <p:ext uri="{BB962C8B-B14F-4D97-AF65-F5344CB8AC3E}">
        <p14:creationId xmlns:p14="http://schemas.microsoft.com/office/powerpoint/2010/main" val="14781056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385C-079E-EF52-6366-8DBBD33D3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Timer Concept Execution in PLC-Based </a:t>
            </a:r>
            <a:r>
              <a:rPr lang="en-US" dirty="0" err="1"/>
              <a:t>IIoT</a:t>
            </a:r>
            <a:r>
              <a:rPr lang="en-US" dirty="0"/>
              <a:t> Industrial Automation Development Workbench</a:t>
            </a:r>
            <a:endParaRPr lang="en-IN" dirty="0"/>
          </a:p>
        </p:txBody>
      </p:sp>
      <p:pic>
        <p:nvPicPr>
          <p:cNvPr id="5" name="Content Placeholder 4" descr="A computer screen with a white background">
            <a:extLst>
              <a:ext uri="{FF2B5EF4-FFF2-40B4-BE49-F238E27FC236}">
                <a16:creationId xmlns:a16="http://schemas.microsoft.com/office/drawing/2014/main" id="{D4B34BDE-196A-F19B-7D56-68817870C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10456333" cy="4351338"/>
          </a:xfrm>
        </p:spPr>
      </p:pic>
    </p:spTree>
    <p:extLst>
      <p:ext uri="{BB962C8B-B14F-4D97-AF65-F5344CB8AC3E}">
        <p14:creationId xmlns:p14="http://schemas.microsoft.com/office/powerpoint/2010/main" val="9834612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C7162-8D07-ADD7-8012-C6673AE74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 Output in Human-Machine Interface Display</a:t>
            </a:r>
            <a:endParaRPr lang="en-IN" dirty="0"/>
          </a:p>
        </p:txBody>
      </p:sp>
      <p:pic>
        <p:nvPicPr>
          <p:cNvPr id="5" name="Content Placeholder 4" descr="A screen shot of a device">
            <a:extLst>
              <a:ext uri="{FF2B5EF4-FFF2-40B4-BE49-F238E27FC236}">
                <a16:creationId xmlns:a16="http://schemas.microsoft.com/office/drawing/2014/main" id="{41A2C773-9B34-B321-50E5-F7CE1E4A7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790952" y="-1381126"/>
            <a:ext cx="4457700" cy="10877552"/>
          </a:xfrm>
        </p:spPr>
      </p:pic>
    </p:spTree>
    <p:extLst>
      <p:ext uri="{BB962C8B-B14F-4D97-AF65-F5344CB8AC3E}">
        <p14:creationId xmlns:p14="http://schemas.microsoft.com/office/powerpoint/2010/main" val="40033219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E7B5-FD7A-9514-D7CA-8F21EEC7A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PLC output operation based on timer logic</a:t>
            </a:r>
            <a:endParaRPr lang="en-IN" dirty="0"/>
          </a:p>
        </p:txBody>
      </p:sp>
      <p:pic>
        <p:nvPicPr>
          <p:cNvPr id="5" name="Content Placeholder 4" descr="A close-up of a machine&#10;&#10;AI-generated content may be incorrect.">
            <a:extLst>
              <a:ext uri="{FF2B5EF4-FFF2-40B4-BE49-F238E27FC236}">
                <a16:creationId xmlns:a16="http://schemas.microsoft.com/office/drawing/2014/main" id="{B16F981B-5134-26A0-FBFC-047C40FC8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668" y="1808692"/>
            <a:ext cx="4895634" cy="4351338"/>
          </a:xfrm>
        </p:spPr>
      </p:pic>
    </p:spTree>
    <p:extLst>
      <p:ext uri="{BB962C8B-B14F-4D97-AF65-F5344CB8AC3E}">
        <p14:creationId xmlns:p14="http://schemas.microsoft.com/office/powerpoint/2010/main" val="4242025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564</Words>
  <Application>Microsoft Office PowerPoint</Application>
  <PresentationFormat>Widescreen</PresentationFormat>
  <Paragraphs>61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Aptos Display</vt:lpstr>
      <vt:lpstr>Arial</vt:lpstr>
      <vt:lpstr>Office Theme</vt:lpstr>
      <vt:lpstr>IIoT &amp; Industrial Automation Development WorkBench</vt:lpstr>
      <vt:lpstr>DVP-SS2 Series Download</vt:lpstr>
      <vt:lpstr>Software Installation Procedure and Datasheet Download for corresponding PLC’s</vt:lpstr>
      <vt:lpstr>HMI (Human-Machine Interface) Manual and Software Tool</vt:lpstr>
      <vt:lpstr>8 Digital Inputs (X0-X7) and 6 Digital Outputs (Y0-Y5) </vt:lpstr>
      <vt:lpstr>IIoT &amp; Industrial Automation Development Board</vt:lpstr>
      <vt:lpstr>Three Cables: Power Supply and Two System Interface USB Cables </vt:lpstr>
      <vt:lpstr>Power Supply Cable </vt:lpstr>
      <vt:lpstr>PLC Programming Cable</vt:lpstr>
      <vt:lpstr>Inbuild HMI Cable for HMI Programming </vt:lpstr>
      <vt:lpstr>Bottom side of the PLC there is two wire, and three wire connections are there </vt:lpstr>
      <vt:lpstr>Modbus communication using a two-wire interface</vt:lpstr>
      <vt:lpstr>Power source for the PLC system provides 24V with positive and negative terminals, as well as a ground (GND) terminal</vt:lpstr>
      <vt:lpstr>Create a New Project</vt:lpstr>
      <vt:lpstr>Once after the Create a new Project</vt:lpstr>
      <vt:lpstr>Before starting the new project, we ensure that the Commgr functionality is working properly.  Commgr stands for Communication Manager</vt:lpstr>
      <vt:lpstr>In the Commgr selection process, select the shortcut icon as shown below.</vt:lpstr>
      <vt:lpstr>Selection of specific parameters, such as panel communication, is done through the serial configuration.</vt:lpstr>
      <vt:lpstr>State is OK(START)</vt:lpstr>
      <vt:lpstr>Select ‘New’ in the program.</vt:lpstr>
      <vt:lpstr>Assigning X0 as Digital Input  </vt:lpstr>
      <vt:lpstr>PowerPoint Presentation</vt:lpstr>
      <vt:lpstr>Double-click the highlighted arrow mark</vt:lpstr>
      <vt:lpstr>Memory Coil M0 Parallel to X0.</vt:lpstr>
      <vt:lpstr>Assigning Y0 as Output</vt:lpstr>
      <vt:lpstr>Simple: X0 as Input and Y0 as the corresponding Output.</vt:lpstr>
      <vt:lpstr>The same procedure is followed for X0–X5 and Y0–Y5.</vt:lpstr>
      <vt:lpstr>Choose the online mode option</vt:lpstr>
      <vt:lpstr>Select the option Yes</vt:lpstr>
      <vt:lpstr>Ready for program transfer to the PLC.</vt:lpstr>
      <vt:lpstr>Select a Option OK</vt:lpstr>
      <vt:lpstr>Select a option OK</vt:lpstr>
      <vt:lpstr>Ensure the PLC is in either STOP or RUN mode before proceeding.</vt:lpstr>
      <vt:lpstr>“If the system is stopped, toggle the PLC buttons in this order: RUN → STOP → RUN.</vt:lpstr>
      <vt:lpstr>Digital Inputs and Outputs</vt:lpstr>
      <vt:lpstr>Digital Output Measurement using Multimeter</vt:lpstr>
      <vt:lpstr> Whenever the digital input is ON and the digital output is ON, we can measure a corresponding  24 V output Respectively Input and Output </vt:lpstr>
      <vt:lpstr>HMI TOOL for Programming </vt:lpstr>
      <vt:lpstr>Select a Option OK</vt:lpstr>
      <vt:lpstr>Select Option for Download</vt:lpstr>
      <vt:lpstr>When programming the HMI screen</vt:lpstr>
      <vt:lpstr>While using HMI control, the corresponding output glows.</vt:lpstr>
      <vt:lpstr>While using HMI control, the corresponding output glows.</vt:lpstr>
      <vt:lpstr>Timer Concept Execution in PLC-Based IIoT Industrial Automation Development Workbench</vt:lpstr>
      <vt:lpstr>Timer Output in Human-Machine Interface Display</vt:lpstr>
      <vt:lpstr>PLC output operation based on timer logic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D</dc:creator>
  <cp:lastModifiedBy>Vennimalai G</cp:lastModifiedBy>
  <cp:revision>5</cp:revision>
  <dcterms:created xsi:type="dcterms:W3CDTF">2025-10-13T10:23:31Z</dcterms:created>
  <dcterms:modified xsi:type="dcterms:W3CDTF">2025-10-14T11:33:23Z</dcterms:modified>
</cp:coreProperties>
</file>